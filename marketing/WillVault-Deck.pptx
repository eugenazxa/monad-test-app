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Tenor Sans" charset="1" panose="02000000000000000000"/>
      <p:regular r:id="rId13"/>
    </p:embeddedFont>
    <p:embeddedFont>
      <p:font typeface="Clear Sans" charset="1" panose="020B0503030202020304"/>
      <p:regular r:id="rId14"/>
    </p:embeddedFont>
    <p:embeddedFont>
      <p:font typeface="Clear Sans Medium" charset="1" panose="020B0603030202020304"/>
      <p:regular r:id="rId15"/>
    </p:embeddedFont>
    <p:embeddedFont>
      <p:font typeface="Clear Sans Bold" charset="1" panose="020B08030302020203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2895613"/>
            <a:ext cx="9763125" cy="5171939"/>
            <a:chOff x="0" y="0"/>
            <a:chExt cx="13017500" cy="689591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90500"/>
              <a:ext cx="13017500" cy="549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500"/>
                </a:lnSpc>
              </a:pPr>
              <a:r>
                <a:rPr lang="en-US" sz="10500" spc="-210">
                  <a:solidFill>
                    <a:srgbClr val="836EF9"/>
                  </a:solidFill>
                  <a:latin typeface="Tenor Sans"/>
                  <a:ea typeface="Tenor Sans"/>
                  <a:cs typeface="Tenor Sans"/>
                  <a:sym typeface="Tenor Sans"/>
                </a:rPr>
                <a:t>WillVault: On-chain Digital Inheritance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199644"/>
              <a:ext cx="13017500" cy="69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4A41C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BUILT FOR MONAD BLITZ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172950" y="0"/>
            <a:ext cx="6115050" cy="10287000"/>
            <a:chOff x="0" y="0"/>
            <a:chExt cx="947381" cy="15937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8774635" y="7396104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562100"/>
            <a:ext cx="9763125" cy="4998509"/>
            <a:chOff x="0" y="0"/>
            <a:chExt cx="13017500" cy="666467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13017500" cy="2819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836EF9"/>
                  </a:solidFill>
                  <a:latin typeface="Tenor Sans"/>
                  <a:ea typeface="Tenor Sans"/>
                  <a:cs typeface="Tenor Sans"/>
                  <a:sym typeface="Tenor Sans"/>
                </a:rPr>
                <a:t>The Problem with Traditional Inheritance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533739"/>
              <a:ext cx="130175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6D55F0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WHY IT FAILS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4727522"/>
              <a:ext cx="130175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99">
                  <a:solidFill>
                    <a:srgbClr val="4A41C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Wills can get lost, forged, hidden, or contested.</a:t>
              </a:r>
            </a:p>
            <a:p>
              <a:pPr algn="l" marL="453390" indent="-226695" lvl="1">
                <a:lnSpc>
                  <a:spcPts val="29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99">
                  <a:solidFill>
                    <a:srgbClr val="4A41C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Paper documents may be secretly altered, complicating claims.</a:t>
              </a:r>
            </a:p>
            <a:p>
              <a:pPr algn="l" marL="453390" indent="-226695" lvl="1">
                <a:lnSpc>
                  <a:spcPts val="29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99">
                  <a:solidFill>
                    <a:srgbClr val="4A41C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Heirs often struggle to find or access assets after sudden deaths.</a:t>
              </a:r>
            </a:p>
            <a:p>
              <a:pPr algn="l" marL="453390" indent="-226695" lvl="1">
                <a:lnSpc>
                  <a:spcPts val="29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99">
                  <a:solidFill>
                    <a:srgbClr val="4A41C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Lawyers, escrow, and courts can be slow and costly.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150568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562086"/>
            <a:ext cx="832485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836EF9"/>
                </a:solidFill>
                <a:latin typeface="Tenor Sans"/>
                <a:ea typeface="Tenor Sans"/>
                <a:cs typeface="Tenor Sans"/>
                <a:sym typeface="Tenor Sans"/>
              </a:rPr>
              <a:t>The Solution: WillVault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3352794"/>
            <a:ext cx="5448300" cy="4429826"/>
            <a:chOff x="0" y="0"/>
            <a:chExt cx="7264400" cy="5906434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47625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6D55F0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ENCRYPTED DIGITAL VAULT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878058"/>
              <a:ext cx="72644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4A41C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WillVault is an </a:t>
              </a:r>
              <a:r>
                <a:rPr lang="en-US" b="true" sz="2099">
                  <a:solidFill>
                    <a:srgbClr val="4A41C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encrypted digital vault</a:t>
              </a:r>
              <a:r>
                <a:rPr lang="en-US" sz="2099">
                  <a:solidFill>
                    <a:srgbClr val="4A41C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on the Monad blockchain, equipped with a built-in dead-man's switch for secure inheritance.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533758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6D55F0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AUTOMATED ACCESS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4459440"/>
              <a:ext cx="72644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4A41C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Heirs can access documents </a:t>
              </a:r>
              <a:r>
                <a:rPr lang="en-US" b="true" sz="2099">
                  <a:solidFill>
                    <a:srgbClr val="4A41C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automatically</a:t>
              </a:r>
              <a:r>
                <a:rPr lang="en-US" sz="2099">
                  <a:solidFill>
                    <a:srgbClr val="4A41C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after a set interval of silence, eliminating the need for lawyers or escrow services.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562086"/>
            <a:ext cx="832485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836EF9"/>
                </a:solidFill>
                <a:latin typeface="Tenor Sans"/>
                <a:ea typeface="Tenor Sans"/>
                <a:cs typeface="Tenor Sans"/>
                <a:sym typeface="Tenor Sans"/>
              </a:rPr>
              <a:t>How WillVault Works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1562086"/>
            <a:ext cx="6886575" cy="1944877"/>
            <a:chOff x="0" y="0"/>
            <a:chExt cx="9182100" cy="259317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47625"/>
              <a:ext cx="91821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6D55F0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PROTECT YOUR LEGACY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146176"/>
              <a:ext cx="91821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4A41C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Create a secure vault to store encrypted documents, ensuring that your vital information is notarized and protected on-chain.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734675" y="4248150"/>
            <a:ext cx="6886575" cy="1944732"/>
            <a:chOff x="0" y="0"/>
            <a:chExt cx="9182100" cy="259297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47625"/>
              <a:ext cx="91821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6D55F0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PROVE YOUR EXISTENCE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145982"/>
              <a:ext cx="91821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4A41C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Regular check-ins reset the countdown, confirming your presence and maintaining control over your inheritance until the time comes.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734675" y="6934200"/>
            <a:ext cx="6886575" cy="1944864"/>
            <a:chOff x="0" y="0"/>
            <a:chExt cx="9182100" cy="259315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91821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6D55F0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INHERIT SEAMLESSLY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146158"/>
              <a:ext cx="91821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4A41C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If the timer runs out, heirs can claim access and decrypt the documents directly in their browser, ensuring a smooth transition.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4248150"/>
            <a:ext cx="5448300" cy="3581400"/>
            <a:chOff x="0" y="0"/>
            <a:chExt cx="1333267" cy="8764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3267" cy="876413"/>
            </a:xfrm>
            <a:custGeom>
              <a:avLst/>
              <a:gdLst/>
              <a:ahLst/>
              <a:cxnLst/>
              <a:rect r="r" b="b" t="t" l="l"/>
              <a:pathLst>
                <a:path h="876413" w="1333267">
                  <a:moveTo>
                    <a:pt x="0" y="0"/>
                  </a:moveTo>
                  <a:lnTo>
                    <a:pt x="1333267" y="0"/>
                  </a:lnTo>
                  <a:lnTo>
                    <a:pt x="1333267" y="876413"/>
                  </a:lnTo>
                  <a:lnTo>
                    <a:pt x="0" y="876413"/>
                  </a:lnTo>
                  <a:close/>
                </a:path>
              </a:pathLst>
            </a:custGeom>
            <a:blipFill>
              <a:blip r:embed="rId2"/>
              <a:stretch>
                <a:fillRect l="-83" t="0" r="-8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19850" y="4248150"/>
            <a:ext cx="5448300" cy="3581400"/>
            <a:chOff x="0" y="0"/>
            <a:chExt cx="1333267" cy="8764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33267" cy="876413"/>
            </a:xfrm>
            <a:custGeom>
              <a:avLst/>
              <a:gdLst/>
              <a:ahLst/>
              <a:cxnLst/>
              <a:rect r="r" b="b" t="t" l="l"/>
              <a:pathLst>
                <a:path h="876413" w="1333267">
                  <a:moveTo>
                    <a:pt x="0" y="0"/>
                  </a:moveTo>
                  <a:lnTo>
                    <a:pt x="1333267" y="0"/>
                  </a:lnTo>
                  <a:lnTo>
                    <a:pt x="1333267" y="876413"/>
                  </a:lnTo>
                  <a:lnTo>
                    <a:pt x="0" y="876413"/>
                  </a:lnTo>
                  <a:close/>
                </a:path>
              </a:pathLst>
            </a:custGeom>
            <a:blipFill>
              <a:blip r:embed="rId3"/>
              <a:stretch>
                <a:fillRect l="-83" t="0" r="-8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72950" y="4248150"/>
            <a:ext cx="5448300" cy="3581400"/>
            <a:chOff x="0" y="0"/>
            <a:chExt cx="1333267" cy="8764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33267" cy="876413"/>
            </a:xfrm>
            <a:custGeom>
              <a:avLst/>
              <a:gdLst/>
              <a:ahLst/>
              <a:cxnLst/>
              <a:rect r="r" b="b" t="t" l="l"/>
              <a:pathLst>
                <a:path h="876413" w="1333267">
                  <a:moveTo>
                    <a:pt x="0" y="0"/>
                  </a:moveTo>
                  <a:lnTo>
                    <a:pt x="1333267" y="0"/>
                  </a:lnTo>
                  <a:lnTo>
                    <a:pt x="1333267" y="876413"/>
                  </a:lnTo>
                  <a:lnTo>
                    <a:pt x="0" y="876413"/>
                  </a:lnTo>
                  <a:close/>
                </a:path>
              </a:pathLst>
            </a:custGeom>
            <a:blipFill>
              <a:blip r:embed="rId4"/>
              <a:stretch>
                <a:fillRect l="-83" t="0" r="-83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8089" y="8366723"/>
            <a:ext cx="5446961" cy="1253517"/>
            <a:chOff x="0" y="0"/>
            <a:chExt cx="7262615" cy="167135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47625"/>
              <a:ext cx="7262615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6D55F0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NOTARIZATION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704251"/>
              <a:ext cx="7262615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4A41C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Prove document integrity with tamper-proof features.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19850" y="8366723"/>
            <a:ext cx="5448300" cy="1253568"/>
            <a:chOff x="0" y="0"/>
            <a:chExt cx="7264400" cy="1671424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6D55F0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GROWTH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704319"/>
              <a:ext cx="7264400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4A41C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Lock MON to benefit heirs with endowment yield.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72950" y="8366774"/>
            <a:ext cx="5448300" cy="1253466"/>
            <a:chOff x="0" y="0"/>
            <a:chExt cx="7264400" cy="1671288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6D55F0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REWARDS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704183"/>
              <a:ext cx="7264400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4A41C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Earn points through active participation and document protection.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66750" y="1562100"/>
            <a:ext cx="14077950" cy="2111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836EF9"/>
                </a:solidFill>
                <a:latin typeface="Tenor Sans"/>
                <a:ea typeface="Tenor Sans"/>
                <a:cs typeface="Tenor Sans"/>
                <a:sym typeface="Tenor Sans"/>
              </a:rPr>
              <a:t>Key Features: A Living Legacy Ecosystem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-6723923">
            <a:off x="13666568" y="-2297777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5025" y="1562100"/>
            <a:ext cx="6886575" cy="3345180"/>
            <a:chOff x="0" y="0"/>
            <a:chExt cx="9182100" cy="446024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918210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6D55F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WHY IT'S USEFUL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141095"/>
              <a:ext cx="9182100" cy="3319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399">
                  <a:solidFill>
                    <a:srgbClr val="4A41C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WillVault offers </a:t>
              </a:r>
              <a:r>
                <a:rPr lang="en-US" b="true" sz="2399">
                  <a:solidFill>
                    <a:srgbClr val="4A41C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real impact</a:t>
              </a:r>
              <a:r>
                <a:rPr lang="en-US" sz="2399">
                  <a:solidFill>
                    <a:srgbClr val="4A41C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powered by Monad's technology. Its benefits include: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4A41C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Fast and near-free check-ins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4A41C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Trustless operation without middlemen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4A41C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Global accessibility for all wallet users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4A41C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Peace of mind for secure document transfer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1562100"/>
            <a:ext cx="6886575" cy="3764280"/>
            <a:chOff x="0" y="0"/>
            <a:chExt cx="9182100" cy="501904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918210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b="true" sz="2400">
                  <a:solidFill>
                    <a:srgbClr val="6D55F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ESSENTIAL FEATURES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41095"/>
              <a:ext cx="9182100" cy="3877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399">
                  <a:solidFill>
                    <a:srgbClr val="4A41C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platform provides critical advantages: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4A41C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High throughput ensures instant claims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4A41C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Eliminates traditional legal barriers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4A41C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Works effectively in regions with weak legal systems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4A41C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Guarantees that assets reach intended heirs as code ensures reliability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926989">
            <a:off x="-12431368" y="-8975965"/>
            <a:ext cx="27274407" cy="25058977"/>
          </a:xfrm>
          <a:custGeom>
            <a:avLst/>
            <a:gdLst/>
            <a:ahLst/>
            <a:cxnLst/>
            <a:rect r="r" b="b" t="t" l="l"/>
            <a:pathLst>
              <a:path h="25058977" w="27274407">
                <a:moveTo>
                  <a:pt x="0" y="0"/>
                </a:moveTo>
                <a:lnTo>
                  <a:pt x="27274407" y="0"/>
                </a:lnTo>
                <a:lnTo>
                  <a:pt x="27274407" y="25058977"/>
                </a:lnTo>
                <a:lnTo>
                  <a:pt x="0" y="25058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5111384">
            <a:off x="13680135" y="1098024"/>
            <a:ext cx="12122938" cy="11672351"/>
          </a:xfrm>
          <a:custGeom>
            <a:avLst/>
            <a:gdLst/>
            <a:ahLst/>
            <a:cxnLst/>
            <a:rect r="r" b="b" t="t" l="l"/>
            <a:pathLst>
              <a:path h="11672351" w="12122938">
                <a:moveTo>
                  <a:pt x="0" y="0"/>
                </a:moveTo>
                <a:lnTo>
                  <a:pt x="12122939" y="0"/>
                </a:lnTo>
                <a:lnTo>
                  <a:pt x="12122939" y="11672352"/>
                </a:lnTo>
                <a:lnTo>
                  <a:pt x="0" y="11672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6750" y="1562100"/>
            <a:ext cx="112014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4A41C2"/>
                </a:solidFill>
                <a:latin typeface="Tenor Sans"/>
                <a:ea typeface="Tenor Sans"/>
                <a:cs typeface="Tenor Sans"/>
                <a:sym typeface="Tenor Sans"/>
              </a:rPr>
              <a:t>The Vision of WillVault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66750" y="5143500"/>
            <a:ext cx="8324850" cy="3465218"/>
            <a:chOff x="0" y="0"/>
            <a:chExt cx="11099800" cy="4620291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76200"/>
              <a:ext cx="11099800" cy="563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4A41C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OUR MISSION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567135"/>
              <a:ext cx="110998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4A41C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Every person deserves a secure way to pass on what matters.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714475"/>
              <a:ext cx="11099800" cy="563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4A41C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THE PROMISE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357810"/>
              <a:ext cx="110998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4A41C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Your legacy, secured on-chain — for good.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3505150"/>
              <a:ext cx="11099800" cy="563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4A41C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LIVE NOW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4148486"/>
              <a:ext cx="110998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4A41C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Running on Monad testnet today. Thank you.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WillVault: On-chain Digital Inheritance</dc:description>
  <dc:identifier>DAHQbOR6Rmk</dc:identifier>
  <dcterms:modified xsi:type="dcterms:W3CDTF">2011-08-01T06:04:30Z</dcterms:modified>
  <cp:revision>1</cp:revision>
  <dc:title>Presentation - WillVault: On-chain Digital Inheritance</dc:title>
</cp:coreProperties>
</file>